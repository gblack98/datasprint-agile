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1B33"/>
                </a:solidFill>
                <a:latin typeface="Calibri"/>
              </a:rPr>
              <a:t>Chiffre d'affaires par semaine, en milliers de FCFA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 (milliers de FCFA)</c:v>
                </c:pt>
              </c:strCache>
            </c:strRef>
          </c:tx>
          <c:spPr>
            <a:solidFill>
              <a:srgbClr val="3E4CB6"/>
            </a:solidFill>
          </c:spPr>
          <c:cat>
            <c:strRef>
              <c:f>Sheet1!$A$2:$A$5</c:f>
              <c:strCache>
                <c:ptCount val="4"/>
                <c:pt idx="0">
                  <c:v>Semaine 1</c:v>
                </c:pt>
                <c:pt idx="1">
                  <c:v>Semaine 2</c:v>
                </c:pt>
                <c:pt idx="2">
                  <c:v>Semaine 3</c:v>
                </c:pt>
                <c:pt idx="3">
                  <c:v>Semaine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868.5</c:v>
                </c:pt>
                <c:pt idx="1">
                  <c:v>1050.5</c:v>
                </c:pt>
                <c:pt idx="2">
                  <c:v>1248.5</c:v>
                </c:pt>
                <c:pt idx="3">
                  <c:v>898.5</c:v>
                </c:pt>
              </c:numCache>
            </c:numRef>
          </c:val>
        </c:ser>
        <c:dLbls>
          <c:numFmt formatCode="#,##0&quot; k&quot;" sourceLinked="0"/>
          <c:txPr>
            <a:bodyPr/>
            <a:lstStyle/>
            <a:p>
              <a:pPr>
                <a:defRPr sz="1400" b="1">
                  <a:solidFill>
                    <a:srgbClr val="1A1B33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2E2"/>
            </a:solidFill>
          </a:ln>
        </c:spPr>
        <c:txPr>
          <a:bodyPr/>
          <a:lstStyle/>
          <a:p>
            <a:pPr>
              <a:defRPr sz="1300">
                <a:solidFill>
                  <a:srgbClr val="5B5D7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0.0"/>
          <c:min val="0.0"/>
        </c:scaling>
        <c:delete val="0"/>
        <c:axPos val="l"/>
        <c:majorGridlines>
          <c:spPr>
            <a:ln w="9525">
              <a:solidFill>
                <a:srgbClr val="E3E4EE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D7E"/>
                </a:solidFill>
              </a:defRPr>
            </a:pPr>
          </a:p>
        </c:txPr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l'équipe et le sujet en 20 secondes : une boutique veut comprendre ses ventes de la semaine et décider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Démonstration en direct : ouvrir le tableau de bord, montrer les 4 indicateurs, puis changer de semaine (S1 à S4), de catégorie et de canal pour voir tout se mettre à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constats sont calculés par le tableau de bord à partir des chiffres affichés. On voit aussi que la semaine 4 baisse par rapport à la semaine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traçabilité : tout est dans le dépôt GitHub, chaque story a des critères d'acceptation et une estimation en story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les stories une par une avec le Product Owner : chacune est acceptée ou refusée selon ses critères d'acceptation et la Definition of Done. Noter les retours pour le rapport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4B942"/>
                </a:solidFill>
                <a:latin typeface="Calibri"/>
              </a:rPr>
              <a:t>SPRINT REVIEW  ·  GROUPE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Calibri"/>
              </a:rPr>
              <a:t>DataSprint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546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B9BDDD"/>
                </a:solidFill>
                <a:latin typeface="Calibri"/>
              </a:rPr>
              <a:t>Comprendre ses ventes d'un coup d'oeil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Tableau de bord de la boutique Maison Baobab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9BDDD"/>
                </a:solidFill>
                <a:latin typeface="Calibri"/>
              </a:rPr>
              <a:t>Isselmou, Product Owner  ·  Ndeye Sokhna, Scrum Master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B9BDDD"/>
                </a:solidFill>
                <a:latin typeface="Calibri"/>
              </a:rPr>
              <a:t>Ibrahima, équipe de réalisation  ·  M1 MBDA, UN-CHK</a:t>
            </a:r>
          </a:p>
        </p:txBody>
      </p:sp>
      <p:pic>
        <p:nvPicPr>
          <p:cNvPr id="7" name="Picture 6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120640" cy="2880360"/>
          </a:xfrm>
          <a:prstGeom prst="rect">
            <a:avLst/>
          </a:prstGeom>
          <a:ln w="19050">
            <a:solidFill>
              <a:srgbClr val="2B347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La valeur livrée</a:t>
            </a:r>
          </a:p>
        </p:txBody>
      </p:sp>
      <p:pic>
        <p:nvPicPr>
          <p:cNvPr id="3" name="Picture 2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217669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571500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5D7E"/>
                </a:solidFill>
                <a:latin typeface="Calibri"/>
              </a:rPr>
              <a:t>Tableau de bord sur les données du 7 septembre au 4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B33"/>
                </a:solidFill>
                <a:latin typeface="Calibri"/>
              </a:rPr>
              <a:t>Sprint Goal visé : 4 indicateurs, 3 graphiques, 2 filtres, 3 constats.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371600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indicateurs clés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615184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615184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615184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3858768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3858768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858768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filtres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5102352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5102352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02352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constats écrits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Ce que disent les chiffres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371600"/>
          <a:ext cx="57607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766560" y="137160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5160" y="187451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3716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Le samedi</a:t>
            </a:r>
            <a:r>
              <a:rPr sz="1800" b="0">
                <a:solidFill>
                  <a:srgbClr val="1A1B33"/>
                </a:solidFill>
                <a:latin typeface="Calibri"/>
              </a:rPr>
              <a:t> pèse 28 % du chiffre d'affaires : c'est le meilleur jour de la semaine.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01752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95160" y="352043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1752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L'Électronique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fait 36 % du chiffre d'affaires, devant la Beauté (28 %).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66344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95160" y="516635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66344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La boutique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porte 55 % des ventes, et Dakar concentre 63 % du chiffre d'affaires.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Comment l'équipe a travaillé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14904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 board partagé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30 cartes réparties en quatre colonnes : À faire, En cours, À valider, Terminé.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73952" y="1655064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0608" y="14904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 daily de 15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0608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Fait hier, prévu aujourd'hui, obstacles. Les réponses sont notées dans le journal.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32888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816352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65176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Des pull requests relues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9992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La règle : toute pull request est relue par un autre membre avant d'être fusionnée.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32888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2816352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65176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Une Definition of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29992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Une story est terminée quand elle est testée, relue et acceptée par le Product Owner.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17336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E4CB6"/>
                </a:solidFill>
                <a:latin typeface="Calibri"/>
              </a:rPr>
              <a:t>24 points</a:t>
            </a:r>
            <a:r>
              <a:rPr sz="2200" b="0">
                <a:solidFill>
                  <a:srgbClr val="1A1B33"/>
                </a:solidFill>
                <a:latin typeface="Calibri"/>
              </a:rPr>
              <a:t> engagés sur 7 stories, en 5 jours.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850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E4CB6"/>
                </a:solidFill>
                <a:latin typeface="Calibri"/>
              </a:rPr>
              <a:t>Début du sprint</a:t>
            </a:r>
            <a:r>
              <a:rPr sz="1500" b="0">
                <a:solidFill>
                  <a:srgbClr val="1A1B33"/>
                </a:solidFill>
                <a:latin typeface="Calibri"/>
              </a:rPr>
              <a:t> : les 30 cartes sont à faire.</a:t>
            </a:r>
          </a:p>
        </p:txBody>
      </p:sp>
      <p:pic>
        <p:nvPicPr>
          <p:cNvPr id="22" name="Picture 21" descr="Board GitHub au début du sprint : 30 cartes dans la colonne À fai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14216"/>
            <a:ext cx="4487237" cy="1920240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217920" y="36850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E4CB6"/>
                </a:solidFill>
                <a:latin typeface="Calibri"/>
              </a:rPr>
              <a:t>Fin du sprint</a:t>
            </a:r>
            <a:r>
              <a:rPr sz="1500" b="0">
                <a:solidFill>
                  <a:srgbClr val="1A1B33"/>
                </a:solidFill>
                <a:latin typeface="Calibri"/>
              </a:rPr>
              <a:t> : 29 cartes terminées, il reste la remise du dossier.</a:t>
            </a:r>
          </a:p>
        </p:txBody>
      </p:sp>
      <p:pic>
        <p:nvPicPr>
          <p:cNvPr id="24" name="Picture 23" descr="Board GitHub à la fin du sprint : 29 cartes dans Terminé, 1 dans À fai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014216"/>
            <a:ext cx="4538233" cy="1920240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Stories présentées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0408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73152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Prio.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Chiffre d'affaires et nombre de commandes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Quantité vendue et panier moyen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Évolution des ventes par date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US04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Ventes par catégorie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Top 5 des produits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Filtres du tableau de bord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US07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Comparaison par canal ou zone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Trois constats appuyés par les données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138160" y="1371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4B942"/>
                </a:solidFill>
                <a:latin typeface="Calibri"/>
              </a:rPr>
              <a:t>Après la review</a:t>
            </a:r>
          </a:p>
        </p:txBody>
      </p:sp>
      <p:sp>
        <p:nvSpPr>
          <p:cNvPr id="5" name="Oval 4"/>
          <p:cNvSpPr/>
          <p:nvPr/>
        </p:nvSpPr>
        <p:spPr>
          <a:xfrm>
            <a:off x="8138160" y="216712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0116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Validation des stories par le Product Owner</a:t>
            </a:r>
          </a:p>
        </p:txBody>
      </p:sp>
      <p:sp>
        <p:nvSpPr>
          <p:cNvPr id="7" name="Oval 6"/>
          <p:cNvSpPr/>
          <p:nvPr/>
        </p:nvSpPr>
        <p:spPr>
          <a:xfrm>
            <a:off x="8138160" y="312724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9718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Rétrospective de l'équipe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408736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931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Rapport final et remise du dossier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4B942"/>
                </a:solidFill>
                <a:latin typeface="Calibri"/>
              </a:rPr>
              <a:t>24 points</a:t>
            </a:r>
            <a:r>
              <a:rPr sz="1500" b="0">
                <a:solidFill>
                  <a:srgbClr val="B9BDDD"/>
                </a:solidFill>
                <a:latin typeface="Calibri"/>
              </a:rPr>
              <a:t> engagés au sprint (US01 à US06 et US08).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B9BDDD"/>
                </a:solidFill>
                <a:latin typeface="Calibri"/>
              </a:rPr>
              <a:t>US07 a aussi été livrée, hors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B9BDD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DataSprint, Sprint Review</dc:title>
  <dc:subject>M1 MBDA, UN-CHK</dc:subject>
  <dc:creator>Groupe 1</dc:creator>
  <cp:keywords/>
  <dc:description/>
  <cp:lastModifiedBy>Groupe 1</cp:lastModifiedBy>
  <cp:revision>1</cp:revision>
  <dcterms:created xsi:type="dcterms:W3CDTF">2026-10-09T15:45:03Z</dcterms:created>
  <dcterms:modified xsi:type="dcterms:W3CDTF">2026-10-09T15:45:03Z</dcterms:modified>
  <cp:category/>
</cp:coreProperties>
</file>