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A1B33"/>
                </a:solidFill>
                <a:latin typeface="Calibri"/>
              </a:rPr>
              <a:t>Chiffre d'affaires par semaine, en milliers de FCFA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Chiffre d'affaires (milliers de FCFA)</c:v>
                </c:pt>
              </c:strCache>
            </c:strRef>
          </c:tx>
          <c:spPr>
            <a:solidFill>
              <a:srgbClr val="3E4CB6"/>
            </a:solidFill>
          </c:spPr>
          <c:cat>
            <c:strRef>
              <c:f>Sheet1!$A$2:$A$5</c:f>
              <c:strCache>
                <c:ptCount val="4"/>
                <c:pt idx="0">
                  <c:v>Semaine 1</c:v>
                </c:pt>
                <c:pt idx="1">
                  <c:v>Semaine 2</c:v>
                </c:pt>
                <c:pt idx="2">
                  <c:v>Semaine 3</c:v>
                </c:pt>
                <c:pt idx="3">
                  <c:v>Semaine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868.5</c:v>
                </c:pt>
                <c:pt idx="1">
                  <c:v>1050.5</c:v>
                </c:pt>
                <c:pt idx="2">
                  <c:v>1248.5</c:v>
                </c:pt>
                <c:pt idx="3">
                  <c:v>898.5</c:v>
                </c:pt>
              </c:numCache>
            </c:numRef>
          </c:val>
        </c:ser>
        <c:dLbls>
          <c:numFmt formatCode="#,##0&quot; k&quot;" sourceLinked="0"/>
          <c:txPr>
            <a:bodyPr/>
            <a:lstStyle/>
            <a:p>
              <a:pPr>
                <a:defRPr sz="1400" b="1">
                  <a:solidFill>
                    <a:srgbClr val="1A1B33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0D2E2"/>
            </a:solidFill>
          </a:ln>
        </c:spPr>
        <c:txPr>
          <a:bodyPr/>
          <a:lstStyle/>
          <a:p>
            <a:pPr>
              <a:defRPr sz="1300">
                <a:solidFill>
                  <a:srgbClr val="5B5D7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00.0"/>
          <c:min val="0.0"/>
        </c:scaling>
        <c:delete val="0"/>
        <c:axPos val="l"/>
        <c:majorGridlines>
          <c:spPr>
            <a:ln w="9525">
              <a:solidFill>
                <a:srgbClr val="E3E4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B5D7E"/>
                </a:solidFill>
              </a:defRPr>
            </a:pPr>
          </a:p>
        </c:txPr>
        <c:crossAx val="-2068027336"/>
        <c:crosses val="autoZero"/>
        <c:majorUnit val="500.0"/>
      </c:valAx>
    </c:plotArea>
    <c:dispBlanksAs val="gap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Présenter l'équipe et le sujet en 20 secondes : une boutique veut comprendre ses ventes de la semaine et décider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Démonstration en direct : ouvrir le tableau de bord, montrer les 4 indicateurs, puis changer de semaine (S1 à S4), de catégorie et de canal pour voir tout se mettre à jour.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constats sont calculés par le tableau de bord à partir des chiffres affichés. On voit aussi que la semaine 4 baisse par rapport à la semaine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la traçabilité : tout est dans le dépôt GitHub, chaque story a des critères d'acceptation et une estimation en story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Passer les stories une par une avec le Product Owner : chacune est acceptée ou refusée selon ses critères d'acceptation et la Definition of Done. Noter les retours pour le rapport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17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4B942"/>
                </a:solidFill>
                <a:latin typeface="Calibri"/>
              </a:rPr>
              <a:t>SPRINT REVIEW  ·  GROUPE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5669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Calibri"/>
              </a:rPr>
              <a:t>DataSprint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5468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B9BDDD"/>
                </a:solidFill>
                <a:latin typeface="Calibri"/>
              </a:rPr>
              <a:t>Comprendre ses ventes d'un coup d'oeil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Tableau de bord de la boutique Maison Baobab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9BDDD"/>
                </a:solidFill>
                <a:latin typeface="Calibri"/>
              </a:rPr>
              <a:t>Isselmou, Product Owner  ·  Ndeye Sokhna, Scrum Master</a:t>
            </a:r>
          </a:p>
          <a:p>
            <a:pPr algn="l">
              <a:spcBef>
                <a:spcPts val="300"/>
              </a:spcBef>
            </a:pPr>
            <a:r>
              <a:rPr sz="1400" b="0">
                <a:solidFill>
                  <a:srgbClr val="B9BDDD"/>
                </a:solidFill>
                <a:latin typeface="Calibri"/>
              </a:rPr>
              <a:t>Ibrahima, équipe de réalisation  ·  M1 MBDA, UN-CHK</a:t>
            </a:r>
          </a:p>
        </p:txBody>
      </p:sp>
      <p:pic>
        <p:nvPicPr>
          <p:cNvPr id="7" name="Picture 6" descr="dash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83080"/>
            <a:ext cx="5120640" cy="2880360"/>
          </a:xfrm>
          <a:prstGeom prst="rect">
            <a:avLst/>
          </a:prstGeom>
          <a:ln w="19050">
            <a:solidFill>
              <a:srgbClr val="2B3470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1A1B33"/>
                </a:solidFill>
                <a:latin typeface="Calibri"/>
              </a:rPr>
              <a:t>La valeur livrée</a:t>
            </a:r>
          </a:p>
        </p:txBody>
      </p:sp>
      <p:pic>
        <p:nvPicPr>
          <p:cNvPr id="3" name="Picture 2" descr="dash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498079" cy="4217669"/>
          </a:xfrm>
          <a:prstGeom prst="rect">
            <a:avLst/>
          </a:prstGeom>
          <a:ln w="12700">
            <a:solidFill>
              <a:srgbClr val="D9DBEA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48640" y="5715000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B5D7E"/>
                </a:solidFill>
                <a:latin typeface="Calibri"/>
              </a:rPr>
              <a:t>Tableau de bord sur les données du 7 septembre au 4 octobre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A1B33"/>
                </a:solidFill>
                <a:latin typeface="Calibri"/>
              </a:rPr>
              <a:t>Sprint Goal visé : 4 indicateurs, 3 graphiques, 2 filtres, 3 constats.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371600"/>
            <a:ext cx="3200400" cy="1097280"/>
          </a:xfrm>
          <a:prstGeom prst="roundRect">
            <a:avLst>
              <a:gd name="adj" fmla="val 7000"/>
            </a:avLst>
          </a:prstGeom>
          <a:solidFill>
            <a:srgbClr val="F1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37160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>
                <a:solidFill>
                  <a:srgbClr val="3E4CB6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371600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1A1B33"/>
                </a:solidFill>
                <a:latin typeface="Calibri"/>
              </a:rPr>
              <a:t>indicateurs clés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615184"/>
            <a:ext cx="3200400" cy="1097280"/>
          </a:xfrm>
          <a:prstGeom prst="roundRect">
            <a:avLst>
              <a:gd name="adj" fmla="val 7000"/>
            </a:avLst>
          </a:prstGeom>
          <a:solidFill>
            <a:srgbClr val="F1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2615184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>
                <a:solidFill>
                  <a:srgbClr val="3E4CB6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2615184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1A1B33"/>
                </a:solidFill>
                <a:latin typeface="Calibri"/>
              </a:rPr>
              <a:t>graphiques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3858768"/>
            <a:ext cx="3200400" cy="1097280"/>
          </a:xfrm>
          <a:prstGeom prst="roundRect">
            <a:avLst>
              <a:gd name="adj" fmla="val 7000"/>
            </a:avLst>
          </a:prstGeom>
          <a:solidFill>
            <a:srgbClr val="F1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3858768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>
                <a:solidFill>
                  <a:srgbClr val="3E4CB6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3858768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1A1B33"/>
                </a:solidFill>
                <a:latin typeface="Calibri"/>
              </a:rPr>
              <a:t>filtres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102352"/>
            <a:ext cx="3200400" cy="1097280"/>
          </a:xfrm>
          <a:prstGeom prst="roundRect">
            <a:avLst>
              <a:gd name="adj" fmla="val 7000"/>
            </a:avLst>
          </a:prstGeom>
          <a:solidFill>
            <a:srgbClr val="F1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5102352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>
                <a:solidFill>
                  <a:srgbClr val="3E4CB6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5102352"/>
            <a:ext cx="18288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1A1B33"/>
                </a:solidFill>
                <a:latin typeface="Calibri"/>
              </a:rPr>
              <a:t>constats écrits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5D7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1A1B33"/>
                </a:solidFill>
                <a:latin typeface="Calibri"/>
              </a:rPr>
              <a:t>Ce que disent les chiffres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371600"/>
          <a:ext cx="57607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766560" y="1371600"/>
            <a:ext cx="4846320" cy="1463040"/>
          </a:xfrm>
          <a:prstGeom prst="roundRect">
            <a:avLst>
              <a:gd name="adj" fmla="val 7000"/>
            </a:avLst>
          </a:prstGeom>
          <a:solidFill>
            <a:srgbClr val="F1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995160" y="1874519"/>
            <a:ext cx="457200" cy="457200"/>
          </a:xfrm>
          <a:prstGeom prst="ellipse">
            <a:avLst/>
          </a:prstGeom>
          <a:solidFill>
            <a:srgbClr val="15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4B942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371600"/>
            <a:ext cx="3749039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B33"/>
                </a:solidFill>
                <a:latin typeface="Calibri"/>
              </a:rPr>
              <a:t>Le samedi</a:t>
            </a:r>
            <a:r>
              <a:rPr sz="1800" b="0">
                <a:solidFill>
                  <a:srgbClr val="1A1B33"/>
                </a:solidFill>
                <a:latin typeface="Calibri"/>
              </a:rPr>
              <a:t> pèse 28 % du chiffre d'affaires : c'est le meilleur jour de la semaine.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3017520"/>
            <a:ext cx="4846320" cy="1463040"/>
          </a:xfrm>
          <a:prstGeom prst="roundRect">
            <a:avLst>
              <a:gd name="adj" fmla="val 7000"/>
            </a:avLst>
          </a:prstGeom>
          <a:solidFill>
            <a:srgbClr val="F1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995160" y="3520439"/>
            <a:ext cx="457200" cy="457200"/>
          </a:xfrm>
          <a:prstGeom prst="ellipse">
            <a:avLst/>
          </a:prstGeom>
          <a:solidFill>
            <a:srgbClr val="15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4B94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017520"/>
            <a:ext cx="3749039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B33"/>
                </a:solidFill>
                <a:latin typeface="Calibri"/>
              </a:rPr>
              <a:t>L'Électronique</a:t>
            </a:r>
            <a:r>
              <a:rPr sz="1800" b="0">
                <a:solidFill>
                  <a:srgbClr val="1A1B33"/>
                </a:solidFill>
                <a:latin typeface="Calibri"/>
              </a:rPr>
              <a:t> fait 36 % du chiffre d'affaires, devant la Beauté (28 %).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4663440"/>
            <a:ext cx="4846320" cy="1463040"/>
          </a:xfrm>
          <a:prstGeom prst="roundRect">
            <a:avLst>
              <a:gd name="adj" fmla="val 7000"/>
            </a:avLst>
          </a:prstGeom>
          <a:solidFill>
            <a:srgbClr val="F1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95160" y="5166359"/>
            <a:ext cx="457200" cy="457200"/>
          </a:xfrm>
          <a:prstGeom prst="ellipse">
            <a:avLst/>
          </a:prstGeom>
          <a:solidFill>
            <a:srgbClr val="151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4B94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4663440"/>
            <a:ext cx="3749039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B33"/>
                </a:solidFill>
                <a:latin typeface="Calibri"/>
              </a:rPr>
              <a:t>La boutique</a:t>
            </a:r>
            <a:r>
              <a:rPr sz="1800" b="0">
                <a:solidFill>
                  <a:srgbClr val="1A1B33"/>
                </a:solidFill>
                <a:latin typeface="Calibri"/>
              </a:rPr>
              <a:t> porte 55 % des ventes, et Dakar concentre 63 % du chiffre d'affaires.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5D7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1A1B33"/>
                </a:solidFill>
                <a:latin typeface="Calibri"/>
              </a:rPr>
              <a:t>Comment l'équipe a travaillé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394960" cy="1024128"/>
          </a:xfrm>
          <a:prstGeom prst="roundRect">
            <a:avLst>
              <a:gd name="adj" fmla="val 12800"/>
            </a:avLst>
          </a:prstGeom>
          <a:solidFill>
            <a:srgbClr val="F1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" y="1655064"/>
            <a:ext cx="457200" cy="457200"/>
          </a:xfrm>
          <a:prstGeom prst="ellipse">
            <a:avLst/>
          </a:prstGeom>
          <a:solidFill>
            <a:srgbClr val="3E4C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1490472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A1B33"/>
                </a:solidFill>
                <a:latin typeface="Calibri"/>
              </a:rPr>
              <a:t>Un board partagé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1837943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B33"/>
                </a:solidFill>
                <a:latin typeface="Calibri"/>
              </a:rPr>
              <a:t>30 cartes réparties en quatre colonnes : À faire, En cours, À valider, Terminé.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1024128"/>
          </a:xfrm>
          <a:prstGeom prst="roundRect">
            <a:avLst>
              <a:gd name="adj" fmla="val 12800"/>
            </a:avLst>
          </a:prstGeom>
          <a:solidFill>
            <a:srgbClr val="F1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73952" y="1655064"/>
            <a:ext cx="457200" cy="457200"/>
          </a:xfrm>
          <a:prstGeom prst="ellipse">
            <a:avLst/>
          </a:prstGeom>
          <a:solidFill>
            <a:srgbClr val="3E4C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0608" y="1490472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A1B33"/>
                </a:solidFill>
                <a:latin typeface="Calibri"/>
              </a:rPr>
              <a:t>Un daily de 15 minutes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0608" y="1837943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B33"/>
                </a:solidFill>
                <a:latin typeface="Calibri"/>
              </a:rPr>
              <a:t>Fait hier, prévu aujourd'hui, obstacles. Le journal est tenu chaque jour.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32888"/>
            <a:ext cx="5394960" cy="1024128"/>
          </a:xfrm>
          <a:prstGeom prst="roundRect">
            <a:avLst>
              <a:gd name="adj" fmla="val 12800"/>
            </a:avLst>
          </a:prstGeom>
          <a:solidFill>
            <a:srgbClr val="F1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4672" y="2816352"/>
            <a:ext cx="457200" cy="457200"/>
          </a:xfrm>
          <a:prstGeom prst="ellipse">
            <a:avLst/>
          </a:prstGeom>
          <a:solidFill>
            <a:srgbClr val="3E4C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651760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A1B33"/>
                </a:solidFill>
                <a:latin typeface="Calibri"/>
              </a:rPr>
              <a:t>Des pull requests relues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999232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B33"/>
                </a:solidFill>
                <a:latin typeface="Calibri"/>
              </a:rPr>
              <a:t>Chaque ajout au dépôt est relu par un autre membre avant d'être fusionné.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532888"/>
            <a:ext cx="5394960" cy="1024128"/>
          </a:xfrm>
          <a:prstGeom prst="roundRect">
            <a:avLst>
              <a:gd name="adj" fmla="val 12800"/>
            </a:avLst>
          </a:prstGeom>
          <a:solidFill>
            <a:srgbClr val="F1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73952" y="2816352"/>
            <a:ext cx="457200" cy="457200"/>
          </a:xfrm>
          <a:prstGeom prst="ellipse">
            <a:avLst/>
          </a:prstGeom>
          <a:solidFill>
            <a:srgbClr val="3E4C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8" y="2651760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1A1B33"/>
                </a:solidFill>
                <a:latin typeface="Calibri"/>
              </a:rPr>
              <a:t>Une Definition of 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2999232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B33"/>
                </a:solidFill>
                <a:latin typeface="Calibri"/>
              </a:rPr>
              <a:t>Une story est terminée quand elle est testée, relue et acceptée par le Product Owner.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17336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3E4CB6"/>
                </a:solidFill>
                <a:latin typeface="Calibri"/>
              </a:rPr>
              <a:t>24 points</a:t>
            </a:r>
            <a:r>
              <a:rPr sz="2200" b="0">
                <a:solidFill>
                  <a:srgbClr val="1A1B33"/>
                </a:solidFill>
                <a:latin typeface="Calibri"/>
              </a:rPr>
              <a:t> engagés sur 7 stories, en 5 jours.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B5D7E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685032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3E4CB6"/>
                </a:solidFill>
                <a:latin typeface="Calibri"/>
              </a:rPr>
              <a:t>Début du sprint</a:t>
            </a:r>
            <a:r>
              <a:rPr sz="1500" b="0">
                <a:solidFill>
                  <a:srgbClr val="1A1B33"/>
                </a:solidFill>
                <a:latin typeface="Calibri"/>
              </a:rPr>
              <a:t> : les 30 cartes sont à faire.</a:t>
            </a:r>
          </a:p>
        </p:txBody>
      </p:sp>
      <p:pic>
        <p:nvPicPr>
          <p:cNvPr id="22" name="Picture 21" descr="Board GitHub au début du sprint : 30 cartes dans la colonne À fai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14216"/>
            <a:ext cx="4487237" cy="1920240"/>
          </a:xfrm>
          <a:prstGeom prst="rect">
            <a:avLst/>
          </a:prstGeom>
          <a:ln w="12700">
            <a:solidFill>
              <a:srgbClr val="D9DBEA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6217920" y="3685032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3E4CB6"/>
                </a:solidFill>
                <a:latin typeface="Calibri"/>
              </a:rPr>
              <a:t>Fin du sprint</a:t>
            </a:r>
            <a:r>
              <a:rPr sz="1500" b="0">
                <a:solidFill>
                  <a:srgbClr val="1A1B33"/>
                </a:solidFill>
                <a:latin typeface="Calibri"/>
              </a:rPr>
              <a:t> : 29 cartes terminées, il reste la remise du dossier.</a:t>
            </a:r>
          </a:p>
        </p:txBody>
      </p:sp>
      <p:pic>
        <p:nvPicPr>
          <p:cNvPr id="24" name="Picture 23" descr="Board GitHub à la fin du sprint : 29 cartes dans Terminé, 1 dans À fai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014216"/>
            <a:ext cx="4538233" cy="1920240"/>
          </a:xfrm>
          <a:prstGeom prst="rect">
            <a:avLst/>
          </a:prstGeom>
          <a:ln w="12700">
            <a:solidFill>
              <a:srgbClr val="D9DBEA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Stories présentées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70408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4480560"/>
                <a:gridCol w="731520"/>
                <a:gridCol w="100584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anchor="ctr" marL="109728" marR="109728">
                    <a:solidFill>
                      <a:srgbClr val="3E4C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Story</a:t>
                      </a:r>
                    </a:p>
                  </a:txBody>
                  <a:tcPr anchor="ctr" marL="109728" marR="109728">
                    <a:solidFill>
                      <a:srgbClr val="3E4C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Pts</a:t>
                      </a:r>
                    </a:p>
                  </a:txBody>
                  <a:tcPr anchor="ctr" marL="109728" marR="109728">
                    <a:solidFill>
                      <a:srgbClr val="3E4C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Prio.</a:t>
                      </a:r>
                    </a:p>
                  </a:txBody>
                  <a:tcPr anchor="ctr" marL="109728" marR="109728">
                    <a:solidFill>
                      <a:srgbClr val="3E4CB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4B942"/>
                          </a:solidFill>
                          <a:latin typeface="Calibri"/>
                        </a:rPr>
                        <a:t>US01</a:t>
                      </a:r>
                    </a:p>
                  </a:txBody>
                  <a:tcPr anchor="ctr" marL="109728" marR="109728"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Chiffre d'affaires et nombre de commandes</a:t>
                      </a:r>
                    </a:p>
                  </a:txBody>
                  <a:tcPr anchor="ctr" marL="109728" marR="109728"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109728" marR="109728"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Must</a:t>
                      </a:r>
                    </a:p>
                  </a:txBody>
                  <a:tcPr anchor="ctr" marL="109728" marR="109728">
                    <a:solidFill>
                      <a:srgbClr val="1B21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4B942"/>
                          </a:solidFill>
                          <a:latin typeface="Calibri"/>
                        </a:rPr>
                        <a:t>US02</a:t>
                      </a:r>
                    </a:p>
                  </a:txBody>
                  <a:tcPr anchor="ctr" marL="109728" marR="109728">
                    <a:solidFill>
                      <a:srgbClr val="222A6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Quantité vendue et panier moyen</a:t>
                      </a:r>
                    </a:p>
                  </a:txBody>
                  <a:tcPr anchor="ctr" marL="109728" marR="109728">
                    <a:solidFill>
                      <a:srgbClr val="222A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109728" marR="109728">
                    <a:solidFill>
                      <a:srgbClr val="222A6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Must</a:t>
                      </a:r>
                    </a:p>
                  </a:txBody>
                  <a:tcPr anchor="ctr" marL="109728" marR="109728">
                    <a:solidFill>
                      <a:srgbClr val="222A6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4B942"/>
                          </a:solidFill>
                          <a:latin typeface="Calibri"/>
                        </a:rPr>
                        <a:t>US03</a:t>
                      </a:r>
                    </a:p>
                  </a:txBody>
                  <a:tcPr anchor="ctr" marL="109728" marR="109728"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Évolution des ventes par date</a:t>
                      </a:r>
                    </a:p>
                  </a:txBody>
                  <a:tcPr anchor="ctr" marL="109728" marR="109728"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109728" marR="109728"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Must</a:t>
                      </a:r>
                    </a:p>
                  </a:txBody>
                  <a:tcPr anchor="ctr" marL="109728" marR="109728">
                    <a:solidFill>
                      <a:srgbClr val="1B21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4B942"/>
                          </a:solidFill>
                          <a:latin typeface="Calibri"/>
                        </a:rPr>
                        <a:t>US04</a:t>
                      </a:r>
                    </a:p>
                  </a:txBody>
                  <a:tcPr anchor="ctr" marL="109728" marR="109728">
                    <a:solidFill>
                      <a:srgbClr val="222A6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Ventes par catégorie</a:t>
                      </a:r>
                    </a:p>
                  </a:txBody>
                  <a:tcPr anchor="ctr" marL="109728" marR="109728">
                    <a:solidFill>
                      <a:srgbClr val="222A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109728" marR="109728">
                    <a:solidFill>
                      <a:srgbClr val="222A6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Must</a:t>
                      </a:r>
                    </a:p>
                  </a:txBody>
                  <a:tcPr anchor="ctr" marL="109728" marR="109728">
                    <a:solidFill>
                      <a:srgbClr val="222A6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4B942"/>
                          </a:solidFill>
                          <a:latin typeface="Calibri"/>
                        </a:rPr>
                        <a:t>US05</a:t>
                      </a:r>
                    </a:p>
                  </a:txBody>
                  <a:tcPr anchor="ctr" marL="109728" marR="109728"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Top 5 des produits</a:t>
                      </a:r>
                    </a:p>
                  </a:txBody>
                  <a:tcPr anchor="ctr" marL="109728" marR="109728"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109728" marR="109728"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Should</a:t>
                      </a:r>
                    </a:p>
                  </a:txBody>
                  <a:tcPr anchor="ctr" marL="109728" marR="109728">
                    <a:solidFill>
                      <a:srgbClr val="1B21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4B942"/>
                          </a:solidFill>
                          <a:latin typeface="Calibri"/>
                        </a:rPr>
                        <a:t>US06</a:t>
                      </a:r>
                    </a:p>
                  </a:txBody>
                  <a:tcPr anchor="ctr" marL="109728" marR="109728">
                    <a:solidFill>
                      <a:srgbClr val="222A6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Filtres du tableau de bord</a:t>
                      </a:r>
                    </a:p>
                  </a:txBody>
                  <a:tcPr anchor="ctr" marL="109728" marR="109728">
                    <a:solidFill>
                      <a:srgbClr val="222A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109728" marR="109728">
                    <a:solidFill>
                      <a:srgbClr val="222A6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Should</a:t>
                      </a:r>
                    </a:p>
                  </a:txBody>
                  <a:tcPr anchor="ctr" marL="109728" marR="109728">
                    <a:solidFill>
                      <a:srgbClr val="222A6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4B942"/>
                          </a:solidFill>
                          <a:latin typeface="Calibri"/>
                        </a:rPr>
                        <a:t>US07</a:t>
                      </a:r>
                    </a:p>
                  </a:txBody>
                  <a:tcPr anchor="ctr" marL="109728" marR="109728"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Comparaison par canal ou zone</a:t>
                      </a:r>
                    </a:p>
                  </a:txBody>
                  <a:tcPr anchor="ctr" marL="109728" marR="109728"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109728" marR="109728">
                    <a:solidFill>
                      <a:srgbClr val="1B21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Could</a:t>
                      </a:r>
                    </a:p>
                  </a:txBody>
                  <a:tcPr anchor="ctr" marL="109728" marR="109728">
                    <a:solidFill>
                      <a:srgbClr val="1B21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4B942"/>
                          </a:solidFill>
                          <a:latin typeface="Calibri"/>
                        </a:rPr>
                        <a:t>US08</a:t>
                      </a:r>
                    </a:p>
                  </a:txBody>
                  <a:tcPr anchor="ctr" marL="109728" marR="109728">
                    <a:solidFill>
                      <a:srgbClr val="222A6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Trois constats appuyés par les données</a:t>
                      </a:r>
                    </a:p>
                  </a:txBody>
                  <a:tcPr anchor="ctr" marL="109728" marR="109728">
                    <a:solidFill>
                      <a:srgbClr val="222A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109728" marR="109728">
                    <a:solidFill>
                      <a:srgbClr val="222A6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FFFFF"/>
                          </a:solidFill>
                          <a:latin typeface="Calibri"/>
                        </a:rPr>
                        <a:t>Must</a:t>
                      </a:r>
                    </a:p>
                  </a:txBody>
                  <a:tcPr anchor="ctr" marL="109728" marR="109728">
                    <a:solidFill>
                      <a:srgbClr val="222A6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138160" y="13716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4B942"/>
                </a:solidFill>
                <a:latin typeface="Calibri"/>
              </a:rPr>
              <a:t>Après la review</a:t>
            </a:r>
          </a:p>
        </p:txBody>
      </p:sp>
      <p:sp>
        <p:nvSpPr>
          <p:cNvPr id="5" name="Oval 4"/>
          <p:cNvSpPr/>
          <p:nvPr/>
        </p:nvSpPr>
        <p:spPr>
          <a:xfrm>
            <a:off x="8138160" y="2167128"/>
            <a:ext cx="411480" cy="411480"/>
          </a:xfrm>
          <a:prstGeom prst="ellipse">
            <a:avLst/>
          </a:prstGeom>
          <a:solidFill>
            <a:srgbClr val="3E4C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201168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Validation des stories par le Product Owner</a:t>
            </a:r>
          </a:p>
        </p:txBody>
      </p:sp>
      <p:sp>
        <p:nvSpPr>
          <p:cNvPr id="7" name="Oval 6"/>
          <p:cNvSpPr/>
          <p:nvPr/>
        </p:nvSpPr>
        <p:spPr>
          <a:xfrm>
            <a:off x="8138160" y="3127248"/>
            <a:ext cx="411480" cy="411480"/>
          </a:xfrm>
          <a:prstGeom prst="ellipse">
            <a:avLst/>
          </a:prstGeom>
          <a:solidFill>
            <a:srgbClr val="3E4C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297180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Rétrospective de l'équipe</a:t>
            </a:r>
          </a:p>
        </p:txBody>
      </p:sp>
      <p:sp>
        <p:nvSpPr>
          <p:cNvPr id="9" name="Oval 8"/>
          <p:cNvSpPr/>
          <p:nvPr/>
        </p:nvSpPr>
        <p:spPr>
          <a:xfrm>
            <a:off x="8138160" y="4087368"/>
            <a:ext cx="411480" cy="411480"/>
          </a:xfrm>
          <a:prstGeom prst="ellipse">
            <a:avLst/>
          </a:prstGeom>
          <a:solidFill>
            <a:srgbClr val="3E4C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393192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Rapport final et remise du dossier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502920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4B942"/>
                </a:solidFill>
                <a:latin typeface="Calibri"/>
              </a:rPr>
              <a:t>24 points</a:t>
            </a:r>
            <a:r>
              <a:rPr sz="1500" b="0">
                <a:solidFill>
                  <a:srgbClr val="B9BDDD"/>
                </a:solidFill>
                <a:latin typeface="Calibri"/>
              </a:rPr>
              <a:t> engagés au sprint (US01 à US06 et US08).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B9BDDD"/>
                </a:solidFill>
                <a:latin typeface="Calibri"/>
              </a:rPr>
              <a:t>US07 a aussi été livrée, hors sprint.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B9BDD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DataSprint, Sprint Review</dc:title>
  <dc:subject>M1 MBDA, UN-CHK</dc:subject>
  <dc:creator>Groupe 1</dc:creator>
  <cp:keywords/>
  <dc:description/>
  <cp:lastModifiedBy>Groupe 1</cp:lastModifiedBy>
  <cp:revision>1</cp:revision>
  <dcterms:created xsi:type="dcterms:W3CDTF">2026-10-09T15:45:03Z</dcterms:created>
  <dcterms:modified xsi:type="dcterms:W3CDTF">2026-10-09T15:45:03Z</dcterms:modified>
  <cp:category/>
</cp:coreProperties>
</file>